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1288049-bebda4e38f71" ContentType="image/photo-1551288049-bebda4e38f71"/>
  <Default Extension="photo-1460925895917-afdab827c52f" ContentType="image/photo-1460925895917-afdab827c52f"/>
  <Default Extension="photo-1451187580459-43490279c0fa" ContentType="image/photo-1451187580459-43490279c0fa"/>
  <Default Extension="photo-1517694712202-14dd9538aa97" ContentType="image/photo-1517694712202-14dd9538aa97"/>
  <Default Extension="photo-1526374965328-7f61d4dc18c5" ContentType="image/photo-1526374965328-7f61d4dc18c5"/>
  <Default Extension="photo-1558494949-ef010cbdcc31" ContentType="image/photo-1558494949-ef010cbdcc31"/>
  <Default Extension="photo-1461749280684-dccba630e2f6" ContentType="image/photo-1461749280684-dccba630e2f6"/>
  <Default Extension="photo-1600880292203-757bb62b4baf" ContentType="image/photo-1600880292203-757bb62b4baf"/>
  <Default Extension="photo-1677442135703-1787eea5ce01" ContentType="image/photo-1677442135703-1787eea5ce01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51288049-bebda4e38f7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460925895917-afdab827c52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451187580459-43490279c0fa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hoto-1517694712202-14dd9538aa97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526374965328-7f61d4dc18c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hoto-1558494949-ef010cbdcc3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hoto-1461749280684-dccba630e2f6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hoto-1551288049-bebda4e38f7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hoto-1600880292203-757bb62b4ba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hoto-1677442135703-1787eea5ce0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1288049-bebda4e38f71?w=800&amp;q=80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502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TIỂU LUẬN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HỌC DỮ LIỆU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123444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XU HƯỚNG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TUYỂN DỤNG VÀ KỸ NĂNG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 IT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2944368"/>
            <a:ext cx="164592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063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Nguyễn Trung Kiên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3558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MSSV: K225480106032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6484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Lớp: K58KTPM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9410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TS. Nguyễn Văn Huy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2336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ĐHKTCN Thái Nguyên –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709160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4709160"/>
            <a:ext cx="201168" cy="201168"/>
          </a:xfrm>
          <a:prstGeom prst="ellipse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05840" y="470916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LỤC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1612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&amp; Tính cấp thiết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5453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3172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22585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 Toán học &amp; Thuật toán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2642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290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35584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kiến trúc &amp; Mã nguồn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73989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23444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96128" y="11612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thực nghiệm &amp; Kết quả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15453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488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233172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96128" y="225856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6128" y="2642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</a:t>
            </a:r>
            <a:endParaRPr lang="en-US" sz="1000" dirty="0"/>
          </a:p>
        </p:txBody>
      </p:sp>
      <p:pic>
        <p:nvPicPr>
          <p:cNvPr id="29" name="Image 0" descr="https://images.unsplash.com/photo-1460925895917-afdab827c52f?w=800&amp;q=80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4846320" y="3931920"/>
            <a:ext cx="384048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1: TỔNG QUAN VÀ TÍNH CẤP THIẾT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Cách mạng Công nghiệp 4.0 và thị trường lao động IT</a:t>
            </a:r>
            <a:endParaRPr lang="en-US" sz="1100" dirty="0"/>
          </a:p>
        </p:txBody>
      </p:sp>
      <p:pic>
        <p:nvPicPr>
          <p:cNvPr id="5" name="Image 0" descr="https://images.unsplash.com/photo-1451187580459-43490279c0fa?w=800&amp;q=80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5029200" y="822960"/>
            <a:ext cx="388620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68680"/>
            <a:ext cx="4480560" cy="685800"/>
          </a:xfrm>
          <a:prstGeom prst="roundRect">
            <a:avLst>
              <a:gd name="adj" fmla="val 933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84048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914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mạng 4.0: AI, Big Data, Cloud, Blockchain bùng nổ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1645920"/>
            <a:ext cx="4480560" cy="685800"/>
          </a:xfrm>
          <a:prstGeom prst="roundRect">
            <a:avLst>
              <a:gd name="adj" fmla="val 933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1645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1691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Cơn khát nhân lực chất lượng cao ngành CNTT toàn cầu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" y="2423160"/>
            <a:ext cx="4480560" cy="685800"/>
          </a:xfrm>
          <a:prstGeom prst="roundRect">
            <a:avLst>
              <a:gd name="adj" fmla="val 933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84048" y="24231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4688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 IT là hàm số đa biến: quốc gia, kỹ năng, quy mô DN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" y="3200400"/>
            <a:ext cx="4480560" cy="685800"/>
          </a:xfrm>
          <a:prstGeom prst="roundRect">
            <a:avLst>
              <a:gd name="adj" fmla="val 933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84048" y="3200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4400" y="3246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lao động cần định hướng kỹ năng bằng dữ liệu khoa học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20040" y="3977640"/>
            <a:ext cx="4480560" cy="685800"/>
          </a:xfrm>
          <a:prstGeom prst="roundRect">
            <a:avLst>
              <a:gd name="adj" fmla="val 933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84048" y="39776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4400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cần mô hình dự báo lương để xây dựng chính sách nhân sự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NGHIÊN CỨU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cấp độ phân tích cốt lõi trong quy trình Khoa học Dữ liệu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977640"/>
          </a:xfrm>
          <a:prstGeom prst="roundRect">
            <a:avLst>
              <a:gd name="adj" fmla="val 333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784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Mô tả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261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6420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 hạng ngôn ngữ lập trình theo tần suất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8716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thu nhập trung vị theo chức danh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1012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ảnh hưởng quy mô doanh nghiệp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960120"/>
            <a:ext cx="2743200" cy="3977640"/>
          </a:xfrm>
          <a:prstGeom prst="roundRect">
            <a:avLst>
              <a:gd name="adj" fmla="val 333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9601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9784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4904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Dự đoán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1261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01568" y="1737360"/>
            <a:ext cx="164592" cy="164592"/>
          </a:xfrm>
          <a:prstGeom prst="ellipse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166420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Data Pipeline tự động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01568" y="2560320"/>
            <a:ext cx="164592" cy="164592"/>
          </a:xfrm>
          <a:prstGeom prst="ellipse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248716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Gradient Boosting Regressor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01568" y="3383280"/>
            <a:ext cx="164592" cy="164592"/>
          </a:xfrm>
          <a:prstGeom prst="ellipse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31012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MAE, RMSE, R² Score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63056" y="960120"/>
            <a:ext cx="2743200" cy="3977640"/>
          </a:xfrm>
          <a:prstGeom prst="roundRect">
            <a:avLst>
              <a:gd name="adj" fmla="val 333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96012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9784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693408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Phân cụm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93408" y="12618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Analytics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45936" y="173736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0256" y="166420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hóa kỹ năng bằng TF-IDF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45936" y="256032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248716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cụm K-Means + PCA 2D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45936" y="338328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331012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Biện luận giá trị kinh tế từng cụm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CRISP-DM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Cross-Industry Standard Process for Data Mining – 6 giai đoạn vòng lặp</a:t>
            </a:r>
            <a:endParaRPr lang="en-US" sz="1100" dirty="0"/>
          </a:p>
        </p:txBody>
      </p:sp>
      <p:pic>
        <p:nvPicPr>
          <p:cNvPr id="5" name="Image 0" descr="https://images.unsplash.com/photo-1517694712202-14dd9538aa97?w=800&amp;q=80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5943600" y="1005840"/>
            <a:ext cx="29260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60120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93192" y="1024128"/>
            <a:ext cx="457200" cy="4572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99669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60120" y="12618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bài toán thực tế: dự đoán &amp; phân cụm lương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4632" y="1563624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CB"/>
                </a:solidFill>
              </a:rPr>
              <a:t>▼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20040" y="1627632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93192" y="1691640"/>
            <a:ext cx="457200" cy="4572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16642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60120" y="192938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cấu trúc CSV, tỷ lệ missing values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4632" y="2231136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CB"/>
                </a:solidFill>
              </a:rPr>
              <a:t>▼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320040" y="2295144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93192" y="2359152"/>
            <a:ext cx="457200" cy="4572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3192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23317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960120" y="259689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Outliers, Regex, điền khuyết trung vị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4632" y="2898648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CB"/>
                </a:solidFill>
              </a:rPr>
              <a:t>▼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320040" y="2962656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93192" y="3026664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3192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60120" y="29992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960120" y="326440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+ TF-IDF + K-Means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84632" y="3566160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CB"/>
                </a:solidFill>
              </a:rPr>
              <a:t>▼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320040" y="3630168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93192" y="3694176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93192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60120" y="366674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960120" y="393192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 trên tập Test độc lập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4632" y="4233672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CB"/>
                </a:solidFill>
              </a:rPr>
              <a:t>▼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320040" y="4297680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93192" y="4361688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3192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60120" y="43342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960120" y="45994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+ báo cáo hoàn chỉnh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2: CƠ SỞ LÝ THUYẾT TOÁN HỌC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thuật toán cốt lõi được áp dụng trong đề tài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874520"/>
          </a:xfrm>
          <a:prstGeom prst="roundRect">
            <a:avLst>
              <a:gd name="adj" fmla="val 439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88136"/>
            <a:ext cx="91440" cy="640080"/>
          </a:xfrm>
          <a:prstGeom prst="round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698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Outliers (Quantile)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380744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Cắt 5% dưới &amp; 95% trên của phân phối thu nhập để loại dữ liệu nhiễu biên, bảo vệ hàm mất mát MSE khỏi bị bóp méo.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25856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08142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58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Q₀.₀₅ ≤ Salary ≤ Q₀.₉₅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1874520"/>
          </a:xfrm>
          <a:prstGeom prst="roundRect">
            <a:avLst>
              <a:gd name="adj" fmla="val 439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88136"/>
            <a:ext cx="91440" cy="640080"/>
          </a:xfrm>
          <a:prstGeom prst="roundRect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0698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56632" y="1380744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dữ liệu dựa trên Trung vị và IQR thay vì Mean±Std, kháng nhiễu tốt hơn StandardScaler.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56632" y="225856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081420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2258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7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(X − Median) / IQR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4160520" cy="1874520"/>
          </a:xfrm>
          <a:prstGeom prst="roundRect">
            <a:avLst>
              <a:gd name="adj" fmla="val 439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118104"/>
            <a:ext cx="91440" cy="64008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099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3410712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M cây quyết định nông học tuần tự từ phần dư gradient, tích lũy tri thức dự báo phi tuyến cao.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" y="4288536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08142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288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f_m(x) = f_{m-1}(x) + ν·h_m(x)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990088"/>
            <a:ext cx="4160520" cy="1874520"/>
          </a:xfrm>
          <a:prstGeom prst="roundRect">
            <a:avLst>
              <a:gd name="adj" fmla="val 439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118104"/>
            <a:ext cx="91440" cy="640080"/>
          </a:xfrm>
          <a:prstGeom prst="roundRect">
            <a:avLst/>
          </a:prstGeom>
          <a:solidFill>
            <a:srgbClr val="00BA7C"/>
          </a:solidFill>
          <a:ln w="12700">
            <a:solidFill>
              <a:srgbClr val="00B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3099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K-Means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56632" y="3410712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hóa kỹ năng bằng TF-IDF, giảm chiều PCA, phân cụm K-Means tối thiểu hóa WCSS Euclide.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56632" y="4288536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081420"/>
          </a:solidFill>
          <a:ln w="12700">
            <a:solidFill>
              <a:srgbClr val="00BA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4288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B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WCSS = Σⱼ Σ_{xᵢ∈Sⱼ} |xᵢ − μⱼ|²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 – Quy trình toán học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Ensemble Learning xây dựng chuỗi cây quyết định tuần tự</a:t>
            </a:r>
            <a:endParaRPr lang="en-US" sz="1100" dirty="0"/>
          </a:p>
        </p:txBody>
      </p:sp>
      <p:pic>
        <p:nvPicPr>
          <p:cNvPr id="5" name="Image 0" descr="https://images.unsplash.com/photo-1526374965328-7f61d4dc18c5?w=800&amp;q=80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5852160" y="1005840"/>
            <a:ext cx="301752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005840"/>
            <a:ext cx="5349240" cy="667512"/>
          </a:xfrm>
          <a:prstGeom prst="roundRect">
            <a:avLst>
              <a:gd name="adj" fmla="val 9589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640080" cy="667512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8992" y="105156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" y="133502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f₀(x) = argmin Σ L(yᵢ, γ) = Mean(Y_train)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1764792"/>
            <a:ext cx="5349240" cy="667512"/>
          </a:xfrm>
          <a:prstGeom prst="roundRect">
            <a:avLst>
              <a:gd name="adj" fmla="val 9589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764792"/>
            <a:ext cx="640080" cy="667512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764792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78992" y="181051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phần dư gradient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78992" y="209397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rᵢₘ = −∂L/∂f(xᵢ) = yᵢ − fₘ₋₁(xᵢ)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2523744"/>
            <a:ext cx="5349240" cy="667512"/>
          </a:xfrm>
          <a:prstGeom prst="roundRect">
            <a:avLst>
              <a:gd name="adj" fmla="val 9589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2523744"/>
            <a:ext cx="640080" cy="667512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523744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256946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cây mới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8992" y="285292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hₘ(x) học dự đoán phần dư rᵢₘ (không phải y)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3282696"/>
            <a:ext cx="5349240" cy="667512"/>
          </a:xfrm>
          <a:prstGeom prst="roundRect">
            <a:avLst>
              <a:gd name="adj" fmla="val 9589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3282696"/>
            <a:ext cx="640080" cy="667512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282696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78992" y="332841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mô hình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78992" y="361188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fₘ(x) = fₘ₋₁(x) + ν · hₘ(x); ν ∈ [0.01, 0.1]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4041648"/>
            <a:ext cx="5349240" cy="667512"/>
          </a:xfrm>
          <a:prstGeom prst="roundRect">
            <a:avLst>
              <a:gd name="adj" fmla="val 9589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4041648"/>
            <a:ext cx="640080" cy="667512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4041648"/>
            <a:ext cx="6400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78992" y="408736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 M vòng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78992" y="437083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100-300 cây, mỗi cây học từ sai số của cây trước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VÀ K-MEANS CLUSTERING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hóa kỹ năng ngôn ngữ lập trình &amp; Phân cụm thị trường việc làm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3931920"/>
          </a:xfrm>
          <a:prstGeom prst="roundRect">
            <a:avLst>
              <a:gd name="adj" fmla="val 209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TF-IDF(t,d) = TF(t,d) × IDF(t,D)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0939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TF(t,d):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50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f(t,d) / Σ f(t',d) — Tần suất từ khóa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IDF(t,D):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962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ln(|D| / |d∋t| + 1) — Nghịch đảo phổ biến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319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HTML/CSS: IDF thấp → trọng số nhỏ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31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187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Rust/Go: IDF cao → trọng số lớn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60520" cy="3931920"/>
          </a:xfrm>
          <a:prstGeom prst="roundRect">
            <a:avLst>
              <a:gd name="adj" fmla="val 2093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96012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PCA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1554480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4996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TF-IDF → Ma trận thưa V chiều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103120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0482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PCA giảm chiều → 2D (bảo toàn phương sai)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651760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5968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K=4 cụm; Khởi tạo K tâm ngẫu nhiên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200400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1455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Gán: cₖ = argmin |xᵢ − μₖ|²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749040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694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Cập nhật: μₖ = (1/|Sₖ|) Σ xᵢ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4297680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242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Lặp đến khi μₖ hội tụ (Δμ ≈ 0)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3: KIẾN TRÚC MÃ NGUỒN HỆ THỐNG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tích hợp Supervised + Unsupervised ML</a:t>
            </a:r>
            <a:endParaRPr lang="en-US" sz="1100" dirty="0"/>
          </a:p>
        </p:txBody>
      </p:sp>
      <p:pic>
        <p:nvPicPr>
          <p:cNvPr id="5" name="Image 0" descr="https://images.unsplash.com/photo-1558494949-ef010cbdcc31?w=800&amp;q=80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6400800" y="914400"/>
            <a:ext cx="251460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87552"/>
            <a:ext cx="5852160" cy="530352"/>
          </a:xfrm>
          <a:prstGeom prst="roundRect">
            <a:avLst>
              <a:gd name="adj" fmla="val 12069"/>
            </a:avLst>
          </a:prstGeom>
          <a:solidFill>
            <a:srgbClr val="112843"/>
          </a:solidFill>
          <a:ln w="19050">
            <a:solidFill>
              <a:srgbClr val="7FA8C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98755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survey_results_public.csv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00200"/>
            <a:ext cx="5852160" cy="530352"/>
          </a:xfrm>
          <a:prstGeom prst="roundRect">
            <a:avLst>
              <a:gd name="adj" fmla="val 12069"/>
            </a:avLst>
          </a:prstGeom>
          <a:solidFill>
            <a:srgbClr val="112843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1600200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Cleansing Pipeline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084832"/>
            <a:ext cx="5852160" cy="411480"/>
          </a:xfrm>
          <a:prstGeom prst="roundRect">
            <a:avLst>
              <a:gd name="adj" fmla="val 15556"/>
            </a:avLst>
          </a:prstGeom>
          <a:solidFill>
            <a:srgbClr val="112843"/>
          </a:solidFill>
          <a:ln w="19050">
            <a:solidFill>
              <a:srgbClr val="B0C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" y="208483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Engineering  |  Outlier Removal  |  Median Imputation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554480" y="2468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6CE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633472"/>
            <a:ext cx="2724912" cy="475488"/>
          </a:xfrm>
          <a:prstGeom prst="roundRect">
            <a:avLst>
              <a:gd name="adj" fmla="val 13462"/>
            </a:avLst>
          </a:prstGeom>
          <a:solidFill>
            <a:srgbClr val="112843"/>
          </a:solidFill>
          <a:ln w="19050">
            <a:solidFill>
              <a:srgbClr val="0076C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0040" y="263347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 (Regression)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554480" y="30906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6CE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246120"/>
            <a:ext cx="2724912" cy="530352"/>
          </a:xfrm>
          <a:prstGeom prst="roundRect">
            <a:avLst>
              <a:gd name="adj" fmla="val 12069"/>
            </a:avLst>
          </a:prstGeom>
          <a:solidFill>
            <a:srgbClr val="081420"/>
          </a:solidFill>
          <a:ln w="12700">
            <a:solidFill>
              <a:srgbClr val="0076C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1480" y="3264408"/>
            <a:ext cx="2542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76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ColumnTransformer → One-Hot + RobustScaler → Gradient Boosting Regressor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554480" y="3749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6CE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913632"/>
            <a:ext cx="2724912" cy="438912"/>
          </a:xfrm>
          <a:prstGeom prst="roundRect">
            <a:avLst>
              <a:gd name="adj" fmla="val 14583"/>
            </a:avLst>
          </a:prstGeom>
          <a:solidFill>
            <a:srgbClr val="0076CE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20040" y="391363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Salary (USD)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480560" y="24688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46120" y="2633472"/>
            <a:ext cx="2724912" cy="475488"/>
          </a:xfrm>
          <a:prstGeom prst="roundRect">
            <a:avLst>
              <a:gd name="adj" fmla="val 13462"/>
            </a:avLst>
          </a:prstGeom>
          <a:solidFill>
            <a:srgbClr val="112843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246120" y="263347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ML (Clustering)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480560" y="309067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46120" y="3246120"/>
            <a:ext cx="2724912" cy="530352"/>
          </a:xfrm>
          <a:prstGeom prst="roundRect">
            <a:avLst>
              <a:gd name="adj" fmla="val 12069"/>
            </a:avLst>
          </a:prstGeom>
          <a:solidFill>
            <a:srgbClr val="08142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337560" y="3264408"/>
            <a:ext cx="2542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LanguageWorkedWith → TF-IDF Vectorizer → PCA 2D → K-Means (K=4)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480560" y="37490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46120" y="3913632"/>
            <a:ext cx="2724912" cy="438912"/>
          </a:xfrm>
          <a:prstGeom prst="roundRect">
            <a:avLst>
              <a:gd name="adj" fmla="val 14583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3246120" y="391363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Skill Clusters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4: PHÂN TÍCH NGÔN NGỮ LẬP TRÌNH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dịch chuyển và thống trị của các hệ sinh thái công nghệ (Stack Overflow Survey)</a:t>
            </a:r>
            <a:endParaRPr lang="en-US" sz="1100" dirty="0"/>
          </a:p>
        </p:txBody>
      </p:sp>
      <p:pic>
        <p:nvPicPr>
          <p:cNvPr id="5" name="Image 0" descr="https://images.unsplash.com/photo-1461749280684-dccba630e2f6?w=800&amp;q=80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777240"/>
            <a:ext cx="9144000" cy="43662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0" y="1051560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7" name="Shape 4"/>
          <p:cNvSpPr/>
          <p:nvPr/>
        </p:nvSpPr>
        <p:spPr>
          <a:xfrm>
            <a:off x="2560320" y="1051560"/>
            <a:ext cx="4268534" cy="292608"/>
          </a:xfrm>
          <a:prstGeom prst="roundRect">
            <a:avLst>
              <a:gd name="adj" fmla="val 15625"/>
            </a:avLst>
          </a:prstGeom>
          <a:solidFill>
            <a:srgbClr val="F7DF1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9601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0" y="960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67.9%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60320" y="1517904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0" y="1517904"/>
            <a:ext cx="3218688" cy="292608"/>
          </a:xfrm>
          <a:prstGeom prst="roundRect">
            <a:avLst>
              <a:gd name="adj" fmla="val 15625"/>
            </a:avLst>
          </a:prstGeom>
          <a:solidFill>
            <a:srgbClr val="3776AB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142646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0" y="142646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60320" y="1984248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15" name="Shape 12"/>
          <p:cNvSpPr/>
          <p:nvPr/>
        </p:nvSpPr>
        <p:spPr>
          <a:xfrm>
            <a:off x="2560320" y="1984248"/>
            <a:ext cx="3438716" cy="292608"/>
          </a:xfrm>
          <a:prstGeom prst="roundRect">
            <a:avLst>
              <a:gd name="adj" fmla="val 15625"/>
            </a:avLst>
          </a:prstGeom>
          <a:solidFill>
            <a:srgbClr val="E8733A"/>
          </a:solidFill>
          <a:ln/>
        </p:spPr>
      </p:sp>
      <p:sp>
        <p:nvSpPr>
          <p:cNvPr id="16" name="Text 13"/>
          <p:cNvSpPr/>
          <p:nvPr/>
        </p:nvSpPr>
        <p:spPr>
          <a:xfrm>
            <a:off x="320040" y="18928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772400" y="18928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7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560320" y="2450592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19" name="Shape 16"/>
          <p:cNvSpPr/>
          <p:nvPr/>
        </p:nvSpPr>
        <p:spPr>
          <a:xfrm>
            <a:off x="2560320" y="2450592"/>
            <a:ext cx="2520887" cy="292608"/>
          </a:xfrm>
          <a:prstGeom prst="roundRect">
            <a:avLst>
              <a:gd name="adj" fmla="val 15625"/>
            </a:avLst>
          </a:prstGeom>
          <a:solidFill>
            <a:srgbClr val="3178C6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" y="23591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72400" y="23591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560320" y="2916936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23" name="Shape 20"/>
          <p:cNvSpPr/>
          <p:nvPr/>
        </p:nvSpPr>
        <p:spPr>
          <a:xfrm>
            <a:off x="2560320" y="2916936"/>
            <a:ext cx="2225421" cy="292608"/>
          </a:xfrm>
          <a:prstGeom prst="roundRect">
            <a:avLst>
              <a:gd name="adj" fmla="val 15625"/>
            </a:avLst>
          </a:prstGeom>
          <a:solidFill>
            <a:srgbClr val="ED8B00"/>
          </a:solidFill>
          <a:ln/>
        </p:spPr>
      </p:sp>
      <p:sp>
        <p:nvSpPr>
          <p:cNvPr id="24" name="Text 21"/>
          <p:cNvSpPr/>
          <p:nvPr/>
        </p:nvSpPr>
        <p:spPr>
          <a:xfrm>
            <a:off x="320040" y="282549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72400" y="282549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560320" y="3383280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27" name="Shape 24"/>
          <p:cNvSpPr/>
          <p:nvPr/>
        </p:nvSpPr>
        <p:spPr>
          <a:xfrm>
            <a:off x="2560320" y="3383280"/>
            <a:ext cx="1766507" cy="292608"/>
          </a:xfrm>
          <a:prstGeom prst="roundRect">
            <a:avLst>
              <a:gd name="adj" fmla="val 15625"/>
            </a:avLst>
          </a:prstGeom>
          <a:solidFill>
            <a:srgbClr val="9B4F96"/>
          </a:solidFill>
          <a:ln/>
        </p:spPr>
      </p:sp>
      <p:sp>
        <p:nvSpPr>
          <p:cNvPr id="28" name="Text 25"/>
          <p:cNvSpPr/>
          <p:nvPr/>
        </p:nvSpPr>
        <p:spPr>
          <a:xfrm>
            <a:off x="320040" y="32918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77240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B4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28.1%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560320" y="3849624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31" name="Shape 28"/>
          <p:cNvSpPr/>
          <p:nvPr/>
        </p:nvSpPr>
        <p:spPr>
          <a:xfrm>
            <a:off x="2560320" y="3849624"/>
            <a:ext cx="1496187" cy="292608"/>
          </a:xfrm>
          <a:prstGeom prst="roundRect">
            <a:avLst>
              <a:gd name="adj" fmla="val 15625"/>
            </a:avLst>
          </a:prstGeom>
          <a:solidFill>
            <a:srgbClr val="00599C"/>
          </a:solidFill>
          <a:ln/>
        </p:spPr>
      </p:sp>
      <p:sp>
        <p:nvSpPr>
          <p:cNvPr id="32" name="Text 29"/>
          <p:cNvSpPr/>
          <p:nvPr/>
        </p:nvSpPr>
        <p:spPr>
          <a:xfrm>
            <a:off x="320040" y="375818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772400" y="375818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5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560320" y="4315968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35" name="Shape 32"/>
          <p:cNvSpPr/>
          <p:nvPr/>
        </p:nvSpPr>
        <p:spPr>
          <a:xfrm>
            <a:off x="2560320" y="4315968"/>
            <a:ext cx="704088" cy="292608"/>
          </a:xfrm>
          <a:prstGeom prst="roundRect">
            <a:avLst>
              <a:gd name="adj" fmla="val 15625"/>
            </a:avLst>
          </a:prstGeom>
          <a:solidFill>
            <a:srgbClr val="00ACD7"/>
          </a:solidFill>
          <a:ln/>
        </p:spPr>
      </p:sp>
      <p:sp>
        <p:nvSpPr>
          <p:cNvPr id="36" name="Text 33"/>
          <p:cNvSpPr/>
          <p:nvPr/>
        </p:nvSpPr>
        <p:spPr>
          <a:xfrm>
            <a:off x="320040" y="422452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772400" y="42245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A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560320" y="4782312"/>
            <a:ext cx="5029200" cy="292608"/>
          </a:xfrm>
          <a:prstGeom prst="roundRect">
            <a:avLst>
              <a:gd name="adj" fmla="val 15625"/>
            </a:avLst>
          </a:prstGeom>
          <a:solidFill>
            <a:srgbClr val="0A1628"/>
          </a:solidFill>
          <a:ln/>
        </p:spPr>
      </p:sp>
      <p:sp>
        <p:nvSpPr>
          <p:cNvPr id="39" name="Shape 36"/>
          <p:cNvSpPr/>
          <p:nvPr/>
        </p:nvSpPr>
        <p:spPr>
          <a:xfrm>
            <a:off x="2560320" y="4782312"/>
            <a:ext cx="572072" cy="292608"/>
          </a:xfrm>
          <a:prstGeom prst="roundRect">
            <a:avLst>
              <a:gd name="adj" fmla="val 15625"/>
            </a:avLst>
          </a:prstGeom>
          <a:solidFill>
            <a:srgbClr val="CE422B"/>
          </a:solidFill>
          <a:ln/>
        </p:spPr>
      </p:sp>
      <p:sp>
        <p:nvSpPr>
          <p:cNvPr id="40" name="Text 37"/>
          <p:cNvSpPr/>
          <p:nvPr/>
        </p:nvSpPr>
        <p:spPr>
          <a:xfrm>
            <a:off x="320040" y="469087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772400" y="46908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THU NHẬP THEO CHỨC DANH VÀ QUY MÔ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EDA: Mức lương trung vị (USD/năm) theo DevType &amp; CompanySize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trung vị theo chức danh (USD/năm):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298448"/>
            <a:ext cx="5303520" cy="27432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1298448"/>
            <a:ext cx="4569186" cy="274320"/>
          </a:xfrm>
          <a:prstGeom prst="roundRect">
            <a:avLst>
              <a:gd name="adj" fmla="val 13333"/>
            </a:avLst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070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/ ML Engineer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909560" y="12070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$112K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911096"/>
            <a:ext cx="5303520" cy="27432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2514600" y="1911096"/>
            <a:ext cx="4426399" cy="274320"/>
          </a:xfrm>
          <a:prstGeom prst="roundRect">
            <a:avLst>
              <a:gd name="adj" fmla="val 13333"/>
            </a:avLst>
          </a:prstGeom>
          <a:solidFill>
            <a:srgbClr val="0076C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1965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Cloud Engineer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09560" y="18196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2523744"/>
            <a:ext cx="5303520" cy="27432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4600" y="2523744"/>
            <a:ext cx="3998038" cy="274320"/>
          </a:xfrm>
          <a:prstGeom prst="roundRect">
            <a:avLst>
              <a:gd name="adj" fmla="val 13333"/>
            </a:avLst>
          </a:prstGeom>
          <a:solidFill>
            <a:srgbClr val="00BA7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3230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/ Systems Developer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09560" y="24323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3136392"/>
            <a:ext cx="5303520" cy="27432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19" name="Shape 17"/>
          <p:cNvSpPr/>
          <p:nvPr/>
        </p:nvSpPr>
        <p:spPr>
          <a:xfrm>
            <a:off x="2514600" y="3136392"/>
            <a:ext cx="3569677" cy="27432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0449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09560" y="30449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3749040"/>
            <a:ext cx="5303520" cy="27432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3749040"/>
            <a:ext cx="3712464" cy="274320"/>
          </a:xfrm>
          <a:prstGeom prst="roundRect">
            <a:avLst>
              <a:gd name="adj" fmla="val 13333"/>
            </a:avLst>
          </a:prstGeom>
          <a:solidFill>
            <a:srgbClr val="9B59B6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657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09560" y="3657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4361688"/>
            <a:ext cx="5303520" cy="27432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27" name="Shape 25"/>
          <p:cNvSpPr/>
          <p:nvPr/>
        </p:nvSpPr>
        <p:spPr>
          <a:xfrm>
            <a:off x="2514600" y="4361688"/>
            <a:ext cx="3059723" cy="27432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27024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09560" y="42702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112843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Tập đoàn &gt;10.000 NV: IQR lương rộng hơn rất nhiều → trần thu nhập kỹ sư cấp cao (Principal/Architect) vượt trội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MÔ HÌNH GRADIENT BOOSTING REGRESSOR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 đánh giá trên tập Test độc lập (Hold-out Set)</a:t>
            </a:r>
            <a:endParaRPr lang="en-US" sz="1100" dirty="0"/>
          </a:p>
        </p:txBody>
      </p:sp>
      <p:pic>
        <p:nvPicPr>
          <p:cNvPr id="5" name="Image 0" descr="https://images.unsplash.com/photo-1551288049-bebda4e38f71?w=800&amp;q=80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0" y="777240"/>
            <a:ext cx="9144000" cy="43662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09728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~$12,400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1883664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17627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450592"/>
            <a:ext cx="2240280" cy="1371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48716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tuyệt đối trung bình – chấp nhận được với dải lương IT rộng toàn cầu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18688" y="1005840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18688" y="109728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~$18,600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218688" y="1883664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10128" y="217627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493008" y="2450592"/>
            <a:ext cx="2240280" cy="13716"/>
          </a:xfrm>
          <a:prstGeom prst="rect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10128" y="248716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phóng đại quá xa MAE → bộ lọc Outliers RobustScaler hoạt động hiệu quả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63056" y="1005840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63056" y="1097280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0.62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163056" y="1883664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54496" y="217627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37376" y="2450592"/>
            <a:ext cx="2240280" cy="137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54496" y="2487168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giải thích 62% sự biến thiên lương thực tế; 38% còn lại là yếu tố mềm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959352"/>
            <a:ext cx="8595360" cy="914400"/>
          </a:xfrm>
          <a:prstGeom prst="roundRect">
            <a:avLst>
              <a:gd name="adj" fmla="val 7000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11480" y="3995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quan trọng nhất: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11480" y="4279392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08142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11480" y="42793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(33%)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75688" y="4279392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08142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075688" y="42793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YearsCodingProf (21%)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739896" y="4279392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08142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739896" y="42793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DevType (18%)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404104" y="4279392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08142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04104" y="42793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CompanySize (14%)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068312" y="4279392"/>
            <a:ext cx="1481328" cy="475488"/>
          </a:xfrm>
          <a:prstGeom prst="roundRect">
            <a:avLst>
              <a:gd name="adj" fmla="val 11538"/>
            </a:avLst>
          </a:prstGeom>
          <a:solidFill>
            <a:srgbClr val="08142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68312" y="427939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(8%)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PHÂN CỤM KỸ NĂNG IT (K-MEANS K=4)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nhân lực IT qua không gian PCA 2D – Biện luận 4 phân khúc thị trường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965960"/>
          </a:xfrm>
          <a:prstGeom prst="roundRect">
            <a:avLst>
              <a:gd name="adj" fmla="val 4186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88136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051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Web Essentials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13075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ứng dụng Web phổ thông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$55K–70K /năm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 · HTML · CSS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Rào cản thấp, cung nhân lực cao → TF-IDF IDF thấp → giá trị thặng dư thấp nhất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60520" cy="1965960"/>
          </a:xfrm>
          <a:prstGeom prst="roundRect">
            <a:avLst>
              <a:gd name="adj" fmla="val 4186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88136"/>
            <a:ext cx="502920" cy="502920"/>
          </a:xfrm>
          <a:prstGeom prst="ellipse">
            <a:avLst/>
          </a:prstGeom>
          <a:solidFill>
            <a:srgbClr val="0076CE"/>
          </a:solidFill>
          <a:ln w="12700">
            <a:solidFill>
              <a:srgbClr val="0076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1051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Backend 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68112" y="130759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Doanh nghiệp lớn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16642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$90K–120K /năm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· C# · .NET · SQL Server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24028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Banking/Insurance cần tính toàn vẹn dữ liệu → lương ổn định cao, IQR hẹp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4160520" cy="1965960"/>
          </a:xfrm>
          <a:prstGeom prst="roundRect">
            <a:avLst>
              <a:gd name="adj" fmla="val 4186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91256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3154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AI Specialist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33272" y="341071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nghệ Dữ liệu và Trí tuệ nhân tạo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7673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$110K–150K /năm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406908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R · TensorFlow · SQL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343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→ khan hiếm tuyệt đối → top lương toàn thị trường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063240"/>
            <a:ext cx="4160520" cy="1965960"/>
          </a:xfrm>
          <a:prstGeom prst="roundRect">
            <a:avLst>
              <a:gd name="adj" fmla="val 4186"/>
            </a:avLst>
          </a:prstGeom>
          <a:solidFill>
            <a:srgbClr val="112843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191256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68112" y="3154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DevOps Engineering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68112" y="3410712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hệ thống và Hạ tầng mạng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7673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$95K–130K /năm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06908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C++ · Linux · Docker · Go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43434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ngách, chuyên sâu phần cứng → sàn lương luôn cao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5: HẠN CHẾ VÀ HƯỚNG PHÁT TRIỂN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nhận khách quan và đề xuất nâng cấp hệ thống trong tương lai</a:t>
            </a:r>
            <a:endParaRPr lang="en-US" sz="1100" dirty="0"/>
          </a:p>
        </p:txBody>
      </p:sp>
      <p:pic>
        <p:nvPicPr>
          <p:cNvPr id="5" name="Image 0" descr="https://images.unsplash.com/photo-1600880292203-757bb62b4baf?w=800&amp;q=80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0" b="0"/>
          <a:stretch/>
        </p:blipFill>
        <p:spPr>
          <a:xfrm>
            <a:off x="5943600" y="914400"/>
            <a:ext cx="292608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960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HẠN CHẾ KHÁCH QUAN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298448"/>
            <a:ext cx="5303520" cy="521208"/>
          </a:xfrm>
          <a:prstGeom prst="roundRect">
            <a:avLst>
              <a:gd name="adj" fmla="val 12281"/>
            </a:avLst>
          </a:prstGeom>
          <a:solidFill>
            <a:srgbClr val="112843"/>
          </a:solidFill>
          <a:ln w="63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" y="1316736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335024"/>
            <a:ext cx="4663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tự khai báo → nhiễu hệ thống (làm tròn lương, nhầm trước/sau thuế)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892808"/>
            <a:ext cx="5303520" cy="521208"/>
          </a:xfrm>
          <a:prstGeom prst="roundRect">
            <a:avLst>
              <a:gd name="adj" fmla="val 12281"/>
            </a:avLst>
          </a:prstGeom>
          <a:solidFill>
            <a:srgbClr val="112843"/>
          </a:solidFill>
          <a:ln w="63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" y="1911096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1929384"/>
            <a:ext cx="4663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cân bằng địa lý: US/UK/DE chiếm phần lớn → Bias cho thị trường Việt Nam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2487168"/>
            <a:ext cx="5303520" cy="521208"/>
          </a:xfrm>
          <a:prstGeom prst="roundRect">
            <a:avLst>
              <a:gd name="adj" fmla="val 12281"/>
            </a:avLst>
          </a:prstGeom>
          <a:solidFill>
            <a:srgbClr val="112843"/>
          </a:solidFill>
          <a:ln w="63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4048" y="2505456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2523744"/>
            <a:ext cx="46634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soft features: kỹ năng mềm, live-coding, ngoại ngữ → R² dừng ở 62%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20040" y="3154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HƯỚNG PHÁT TRIỂN TIẾP THEO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3511296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2843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" y="3566160"/>
            <a:ext cx="182880" cy="1828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52958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Tuning: Nâng R² &gt; 0.70 bằng tối ưu siêu tham số tự động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0040" y="3895344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2843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048" y="3950208"/>
            <a:ext cx="182880" cy="1828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9136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MLP: So sánh hiệu năng với Gradient Boosting trên dữ liệu phi tuyến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0040" y="4279392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2843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4048" y="4334256"/>
            <a:ext cx="182880" cy="1828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42976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Localization: Thu thập dữ liệu TopCV/ITViec cho thị trường Việt Nam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" y="4663440"/>
            <a:ext cx="5303520" cy="329184"/>
          </a:xfrm>
          <a:prstGeom prst="roundRect">
            <a:avLst>
              <a:gd name="adj" fmla="val 16667"/>
            </a:avLst>
          </a:prstGeom>
          <a:solidFill>
            <a:srgbClr val="112843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4048" y="4718304"/>
            <a:ext cx="182880" cy="1828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81728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Deployment: API Flask + Dashboard → công cụ dự báo lương thời gian thực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77442135703-1787eea5ce01?w=800&amp;q=80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1628">
              <a:alpha val="8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685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 ĐỀ TÀI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ĐẠT ĐƯỢC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5760" y="182880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Pipeline tự động: lọc nhiễu Quantile + RobustScaler + Median Imputation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2450592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EDA định lượng: quy luật lương theo DN, tương quan kinh nghiệm, điểm bão hòa 15 năm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3072384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Gradient Boosting: R² ≈ 0.62, MAE ~$12K, kiểm soát Overfitting tốt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3694176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Phân cụm 4 nhóm kỹ năng: Data/AI đứng đầu, Web phổ thông thấp nhất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31596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Nền tảng triển khai API thời gian thực dự báo lương theo hồ sơ cá nhân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Trung Kiên  ·  K58KTPM  ·  K225480106032  ·  Môn Khoa học Dữ liệu  ·  ĐHKTCN Thái Nguyên –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xu hướng tuyển dụng và kỹ năng ngành IT</dc:title>
  <dc:subject>PptxGenJS Presentation</dc:subject>
  <dc:creator>PptxGenJS</dc:creator>
  <cp:lastModifiedBy>PptxGenJS</cp:lastModifiedBy>
  <cp:revision>1</cp:revision>
  <dcterms:created xsi:type="dcterms:W3CDTF">2026-06-18T17:54:03Z</dcterms:created>
  <dcterms:modified xsi:type="dcterms:W3CDTF">2026-06-18T17:54:03Z</dcterms:modified>
</cp:coreProperties>
</file>